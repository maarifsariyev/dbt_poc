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B2E2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274320"/>
            <a:ext cx="2011680" cy="20116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BƏRPA OLUNAN ENERJİ  ·  RƏQƏMSAL İDARƏETMƏ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Bərpa Olunan Enerji və Rəqəmsal İdarəetmə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Günəş və külək enerjisi sistemlərinin İKT əsaslı kontrollerlərlə optimallaşdırılması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Konsepsiya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nümunələr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Tövsiyələr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Bərpa olunan enerji sürətlə böyüyür, lakin idarəetmə mürəkkəbləşir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Sürətli artım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8483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on ildə günəş və külək gücündə qurulu tutum bir neçə dəfə artıb, dünya üzrə elektrik istehsalının artan hissəsini təşkil edir.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Dəyişkən mənbə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004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Günəş şüalanması və külək sürəti saat, hətta dəqiqə ərzində dəyişir — bu, ənənəvi əl ilə idarəetməni qeyri-mümkün edir.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Rəqəmsal tələbat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1596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Şəbəkəyə etibarlı inteqrasiya üçün real-vaxt monitorinq, avtomatlaşdırılmış idarəetmə və proqnozlaşdırma alətləri zəruridir.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5477256"/>
            <a:ext cx="310896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80176"/>
            <a:ext cx="31089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Azərbaycanın 2030 hədəfi: bərpa olunan mənbələrin payı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5349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297680" y="5477256"/>
            <a:ext cx="310896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saat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980176"/>
            <a:ext cx="31089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Qabaqcıl İKT sistemləri istehsalı əvvəldən proqnozlaşdıra bilir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53492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09560" y="5477256"/>
            <a:ext cx="356616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5980176"/>
            <a:ext cx="35661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Külək turbinlərinin illik xərcində baxım payı — rəqəmsal alətlərlə azalır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 QOYULUŞU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Niyə ənənəvi idarəetmə kifayət etmir?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3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Qeyri-sabit istehsal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Bulud örtüyü, temperatur və külək sürətinin dəyişkənliyi gücün dəqiqəbaşı tərəddüdünə səbəb olur.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Gecikmiş reaksiya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5661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Əl ilə monitorinq nasazlığı və performans itkisini saatlar, hətta günlərlə gecikmə ilə aşkar edir.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3D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Şəbəkə uyğunsuzluğu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661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Mərkəzləşdirilmiş şəbəkələr dəyişkən yükü idarə etmək üçün real-vaxt məlumat mübadiləsi tələb edir.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Yüksək baxım xərci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5661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Planlaşdırılmamış dayanmalar və reaktiv təmir əməliyyat xərclərini əhəmiyyətli dərəcədə artırır.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ARXITEKTURASI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İKT əsaslı idarəetmənin üç qatı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0008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Fiziki / Sensor qatı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8775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invertor, turbin, meteoroloji stansiya sensorları — temperatur, şüalanma, külək sürəti, vibrasiya məlumatları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904488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850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Kommunikasiya qatı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14223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protokolları (Modbus, IEC 61850), IoT şlüzləri və bulud əsaslı verilənlərin ötürülməsi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458968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458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39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Analitika / İdarəetmə qatı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69671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modelləri, rəqəmsal əkiz simulyasiyaları, avtomatik qərar dəstəyi və operator interfeysi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GÜNƏŞ ENERJISI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Günəş enerjisi sistemlərində rəqəmsal idarəetmə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196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MPPT alqoritmləri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güc nöqtəsini real-vaxtda izləyərək panel çıxışını daim optimallaşdırır.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98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Ağıllı invertorlar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278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Gərginlik, tezlik və reaktiv gücü avtomatik tənzimləyərək şəbəkə tələblərinə uyğunlaşır.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Günəş izləyici sistemlər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068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Tək və ya ikioxlu izləyicilər Günəşin mövqeyinə uyğun panel bucağını dəyişərək istehsalı artırır.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56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Uzaqdan monitorinq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3858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çirklənməsi, «hot-spot» effektləri və istehsal itkiləri bulud platformaları vasitəsilə aşkarlanır.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874520"/>
            <a:ext cx="4572000" cy="4160520"/>
          </a:xfrm>
          <a:prstGeom prst="roundRect">
            <a:avLst>
              <a:gd name="adj" fmla="val 2637"/>
            </a:avLst>
          </a:prstGeom>
          <a:solidFill>
            <a:srgbClr val="0F3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İZLƏYİCİ SİSTEMLƏRİN TƏSİRİ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429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bucaqlı sistemlərlə müqayisədə ikioxlu izləyicilərin tipik illik enerji artımı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4343400"/>
            <a:ext cx="3931920" cy="0"/>
          </a:xfrm>
          <a:prstGeom prst="line">
            <a:avLst/>
          </a:prstGeom>
          <a:noFill/>
          <a:ln w="12700">
            <a:solidFill>
              <a:srgbClr val="1D56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45262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+ ağıllı invertor İnteqrasiyası ilə enerji itkiləri real-vaxt sensorlar vasitəsilə 24/7 aşkarlanır və avtomatik tənzimlənir.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KÜLƏK ENERJISI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Külək enerjisi sistemlərində rəqəmsal idarəetmə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0" cy="4160520"/>
          </a:xfrm>
          <a:prstGeom prst="roundRect">
            <a:avLst>
              <a:gd name="adj" fmla="val 2637"/>
            </a:avLst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+ RƏQƏMSAL ƏKİZ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aparıcı istehsalçıların rəqəmsal diaqnostika mərkəzlərində ciddi komponent nasazlıqlarının qabaqcadan aşkarlanma dərəcəsi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39319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754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 sensorlarından toplanan vibrasiya, temperatur və güc əyrisi məlumatları virtual modellə müqayisə edilərək anomaliyalar erkən mərhələdə aşkarlanır.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1874520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19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və yaw idarəetməsi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14884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Bıçaq bucağı və nasel istiqaməti külək sürətinə uyğun avtomatik tənzimlənir, yükü optimallaşdırır.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2953512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4068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8986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SCADA monitorinqi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2783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Minlərlə sensor göstəricisi mərkəzi platformada toplanaraq əməliyyat qərarlarına çevrilir.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40680" y="4032504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406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977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Rəqəmsal əkiz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30682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Turbinin virtual modeli fərqli ssenarilər üçün simulyasiya aparır və performansı proqnozlaşdırır.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40680" y="5111496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4068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0566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Proqnozlaşdırıcı baxım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5385816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Sürüş qutusu və generator nasazlıqları həftələr, hətta aylar əvvəldən proqnozlaşdırılır.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3A86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420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DeepMind — külək enerjisinin proqnozlaşdırılması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ABŞ-ın mərkəzi ştatlarındakı 700 MW gücündə külək fermalarında Google DeepMind-in neyron şəbəkəsi hava proqnozları və tarixi turbin məlumatlarından istifadə edərək istehsalı 36 saat əvvəldən proqnozlaşdırır. Bu, əməliyyatçılara şəbəkəyə bir gün əvvəldən dəqiq saatlıq çatdırılma öhdəlikləri təqdim etməyə imkan verir.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Nəticə: proqnozlaşdırıla bilən istehsal şəbəkə üçün daha dəyərlidir — çünki əvvəlcədən planlaşdırılmış çatdırılma qeyri-sabit mənbələrdən üstün tutulur.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4562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MW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285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Google-un ABŞ-dakı külək portfeli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4434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926080" y="4562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saat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5285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Əvvəlcədən istehsal proqnozu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44348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66360" y="4562856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5285232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Külək enerjisinin dəyərində artım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1051560"/>
            <a:ext cx="3931920" cy="4800600"/>
          </a:xfrm>
          <a:prstGeom prst="roundRect">
            <a:avLst>
              <a:gd name="adj" fmla="val 2791"/>
            </a:avLst>
          </a:prstGeom>
          <a:solidFill>
            <a:srgbClr val="0F3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METODOLOGİYA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1755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proqnozu + tarixi turbin datası ilə neyron şəbəkənin öyrədilməsi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78892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010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saat əvvəldən saatlıq istehsal proqnozu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74904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675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Şəbəkəyə optimal çatdırılma öhdəliyinin tövsiyəsi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470916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636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Faktiki nəticələrlə davamlı model təkmilləşdirməsi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420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 Gamesa — rəqəmsal diaqnostika mərkəzi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Gamesa-nın Diaqnostika Mərkəzində turbin sensorlarından davamlı ötürülən vibrasiya, temperatur və komponent məlumatları rəqəmsal modellə müqayisə edilir. 130-dan çox analitik mütəxəssis ildə 34.000-dən artıq təhlil aparır ki, bu da xidmət ehtiyacını həftələr, aylar, hətta illər əvvəldən proqnozlaşdırmağa imkan verir.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3557016"/>
            <a:ext cx="30632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130+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06824"/>
            <a:ext cx="30632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diaqnostika mərkəzində çalışan analitik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342900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06240" y="3557016"/>
            <a:ext cx="30632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34 000+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4306824"/>
            <a:ext cx="30632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ildə aparılan məlumat təhlili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5248656"/>
            <a:ext cx="30632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98464"/>
            <a:ext cx="30632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ciddi nasazlığın qabaqcadan aşkarlanması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512064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06240" y="5248656"/>
            <a:ext cx="30632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5998464"/>
            <a:ext cx="30632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 uzaqdan həll edilmə payı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18120" y="1051560"/>
            <a:ext cx="3794760" cy="4800600"/>
          </a:xfrm>
          <a:prstGeom prst="roundRect">
            <a:avLst>
              <a:gd name="adj" fmla="val 2892"/>
            </a:avLst>
          </a:prstGeom>
          <a:solidFill>
            <a:srgbClr val="0F3D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381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FAYDASI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78308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Planlaşdırılmamış dayanma vaxtı azalır, təmir səfərləri optimallaşdırılır və turbinin istismar müddətində əlavə istehsal həftələri qazanılır.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3703320"/>
            <a:ext cx="3154680" cy="0"/>
          </a:xfrm>
          <a:prstGeom prst="line">
            <a:avLst/>
          </a:prstGeom>
          <a:noFill/>
          <a:ln w="12700">
            <a:solidFill>
              <a:srgbClr val="1D56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38862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Rəqəmsal əkiz həm cari vəziyyəti göstərir, həm də fərqli ssenariləri (yük, hava şəraiti) simulyasiya edərək qərar dəstəyi verir.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FFB6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 3 · AZƏRBAYCAN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420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Qaradağ Günəş Elektrik Stansiyası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(BƏƏ) tərəfindən inşa edilən Qaradağ Günəş Elektrik Stansiyası Azərbaycanın ilk xarici investisiya əsaslı, müstəqil günəş layihəsidir. Stansiya Arctech-in SkyLine II izləyici sistemi ilə təchiz olunub — çoxnöqtəli sinxron intiqal mexanizmi mürəkkəb relyef və korroziv şəraitə uyğunlaşdırılıb.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3419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 MW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42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Quraşdırılmış güc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26080" y="3419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mln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142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kVt/saat illik istehsal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918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66360" y="3419856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110 000+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142232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təsərrüfatının tələbatı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İllik 200 000 tondan çox karbon emissiyasının qarşısı alınır. Layihə Azərbaycanın 2030-cu ilə qədər bərpa olunan mənbələrin payını 30%-ə çatdırmaq hədəfinin əsas ünsürlərindən biridir.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051560"/>
            <a:ext cx="3931920" cy="4800600"/>
          </a:xfrm>
          <a:prstGeom prst="roundRect">
            <a:avLst>
              <a:gd name="adj" fmla="val 2791"/>
            </a:avLst>
          </a:prstGeom>
          <a:solidFill>
            <a:srgbClr val="0F3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RƏQƏMSAL LAYIHƏLƏR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1755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Çoxnöqtəli sinxron izləyici idarəetməsi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78892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010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Mürəkkəb relyefə uyğun avtomatik bucaq tənzimləməsi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74904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675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Korroziyaya davamlı sahə sensorları ilə monitorinq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4709160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636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Uzaqdan performans və nasazlıq izləməsi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 4 · AZƏRBAYCAN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420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Xızı–Abşeron Külək Elektrik Stansiyası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ACWA Power (Səudiyyə Ərəbistanı) tərəfindən inşa edilən stansiya 2026-cı ilin yanvarında istismara verilib və Azərbaycanın indiyədək ən böyük külək elektrik stansiyasıdır. 37 ədəd Envision EN-171/6.5 MW turbini Çindən Xəzər dənizinə 9200 km məsafədən daşınaraq quraşdırılıb.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3419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MW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42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Ümumi quraşdırılmış güc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26080" y="3419856"/>
            <a:ext cx="18745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142232"/>
            <a:ext cx="18745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Envision külək turbini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918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66360" y="3419856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~893 GVt/s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142232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Gözlənilən illik istehsal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İllik 400 000 tondan çox CO₂ emissiyasının qarşısı alınacaq. AzərEnerji ilə 25 illik enerji alqı-satqı sazişi çərçivəsində fəaliyyət göstərir — Qafqaz regionunda ən böyük külək layihəsi.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051560"/>
            <a:ext cx="3931920" cy="4800600"/>
          </a:xfrm>
          <a:prstGeom prst="roundRect">
            <a:avLst>
              <a:gd name="adj" fmla="val 2791"/>
            </a:avLst>
          </a:prstGeom>
          <a:solidFill>
            <a:srgbClr val="0F3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RƏQƏMSAL LAYIHƏLƏR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1755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turbində fərdi SCADA monitorinq modulu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78892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010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hündürlüklü qülələrdə real-vaxt külək sensorları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74904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675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Mərkəzləşdirilmiş əməliyyat idarəetmə mərkəzi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4709160"/>
            <a:ext cx="365760" cy="3657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636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NOMAC tərəfindən uzaqdan istismar və baxım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TEXNIKI ƏSASLAR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Külək turbininin quruluşu və iş prinsipi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440680"/>
            <a:ext cx="6035040" cy="0"/>
          </a:xfrm>
          <a:prstGeom prst="line">
            <a:avLst/>
          </a:prstGeom>
          <a:noFill/>
          <a:ln w="19050">
            <a:solidFill>
              <a:srgbClr val="E1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97480"/>
            <a:ext cx="960120" cy="45720"/>
          </a:xfrm>
          <a:prstGeom prst="roundRect">
            <a:avLst>
              <a:gd name="adj" fmla="val 40000"/>
            </a:avLst>
          </a:prstGeom>
          <a:solidFill>
            <a:srgbClr val="1B99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960120" cy="45720"/>
          </a:xfrm>
          <a:prstGeom prst="roundRect">
            <a:avLst>
              <a:gd name="adj" fmla="val 40000"/>
            </a:avLst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81328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960120" cy="45720"/>
          </a:xfrm>
          <a:prstGeom prst="roundRect">
            <a:avLst>
              <a:gd name="adj" fmla="val 40000"/>
            </a:avLst>
          </a:prstGeom>
          <a:solidFill>
            <a:srgbClr val="1B99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8132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2731" y="3226460"/>
            <a:ext cx="186538" cy="1981962"/>
          </a:xfrm>
          <a:prstGeom prst="rect">
            <a:avLst/>
          </a:prstGeom>
          <a:solidFill>
            <a:srgbClr val="9FB3A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27443" y="5177333"/>
            <a:ext cx="317114" cy="124358"/>
          </a:xfrm>
          <a:prstGeom prst="roundRect">
            <a:avLst>
              <a:gd name="adj" fmla="val 22059"/>
            </a:avLst>
          </a:prstGeom>
          <a:solidFill>
            <a:srgbClr val="9FB3AF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4910" y="2900020"/>
            <a:ext cx="777240" cy="326441"/>
          </a:xfrm>
          <a:prstGeom prst="roundRect">
            <a:avLst>
              <a:gd name="adj" fmla="val 14006"/>
            </a:avLst>
          </a:prstGeom>
          <a:solidFill>
            <a:srgbClr val="0F3D3E"/>
          </a:solidFill>
          <a:ln/>
        </p:spPr>
      </p:sp>
      <p:sp>
        <p:nvSpPr>
          <p:cNvPr id="15" name="Shape 13"/>
          <p:cNvSpPr/>
          <p:nvPr/>
        </p:nvSpPr>
        <p:spPr>
          <a:xfrm rot="-1200000">
            <a:off x="2013915" y="1894845"/>
            <a:ext cx="132131" cy="1204722"/>
          </a:xfrm>
          <a:prstGeom prst="roundRect">
            <a:avLst>
              <a:gd name="adj" fmla="val 34602"/>
            </a:avLst>
          </a:prstGeom>
          <a:solidFill>
            <a:srgbClr val="FFB627"/>
          </a:solidFill>
          <a:ln/>
        </p:spPr>
      </p:sp>
      <p:sp>
        <p:nvSpPr>
          <p:cNvPr id="16" name="Shape 14"/>
          <p:cNvSpPr/>
          <p:nvPr/>
        </p:nvSpPr>
        <p:spPr>
          <a:xfrm rot="6000000">
            <a:off x="2813144" y="2565478"/>
            <a:ext cx="132131" cy="1204722"/>
          </a:xfrm>
          <a:prstGeom prst="roundRect">
            <a:avLst>
              <a:gd name="adj" fmla="val 34602"/>
            </a:avLst>
          </a:prstGeom>
          <a:solidFill>
            <a:srgbClr val="FFB627"/>
          </a:solidFill>
          <a:ln/>
        </p:spPr>
      </p:sp>
      <p:sp>
        <p:nvSpPr>
          <p:cNvPr id="17" name="Shape 15"/>
          <p:cNvSpPr/>
          <p:nvPr/>
        </p:nvSpPr>
        <p:spPr>
          <a:xfrm rot="13200000">
            <a:off x="1832744" y="2922314"/>
            <a:ext cx="132131" cy="1204722"/>
          </a:xfrm>
          <a:prstGeom prst="roundRect">
            <a:avLst>
              <a:gd name="adj" fmla="val 34602"/>
            </a:avLst>
          </a:prstGeom>
          <a:solidFill>
            <a:srgbClr val="FFB627"/>
          </a:solidFill>
          <a:ln/>
        </p:spPr>
      </p:sp>
      <p:sp>
        <p:nvSpPr>
          <p:cNvPr id="18" name="Shape 16"/>
          <p:cNvSpPr/>
          <p:nvPr/>
        </p:nvSpPr>
        <p:spPr>
          <a:xfrm>
            <a:off x="2161642" y="2938882"/>
            <a:ext cx="248717" cy="24871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FB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2011680"/>
            <a:ext cx="292608" cy="292608"/>
          </a:xfrm>
          <a:prstGeom prst="ellipse">
            <a:avLst/>
          </a:prstGeom>
          <a:solidFill>
            <a:srgbClr val="3A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953512"/>
            <a:ext cx="292608" cy="292608"/>
          </a:xfrm>
          <a:prstGeom prst="ellipse">
            <a:avLst/>
          </a:prstGeom>
          <a:solidFill>
            <a:srgbClr val="3A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12848" y="4023360"/>
            <a:ext cx="292608" cy="292608"/>
          </a:xfrm>
          <a:prstGeom prst="ellipse">
            <a:avLst/>
          </a:prstGeom>
          <a:solidFill>
            <a:srgbClr val="3A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12848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12848" y="5212080"/>
            <a:ext cx="292608" cy="292608"/>
          </a:xfrm>
          <a:prstGeom prst="ellipse">
            <a:avLst/>
          </a:prstGeom>
          <a:solidFill>
            <a:srgbClr val="3A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12848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178308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1719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Bıçaqlar (Rotor)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20482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Küləyin kinetik enerjisini rotasiya hərəkətinə çevirir; bucaq (pitch) küləyin sürətinə uyğun tənzimlənir.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283464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Nasel (Nacelle)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30998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Daxilində sürətləndirici ötürücü (gearbox), generator, əyləc və idarəetmə elektronikası yerləşir.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388620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3822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Qüllə (Tower)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41513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Naseli optimal hündürlüyə qaldırır və elektrik kabellərini daşıyır.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37960" y="493776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3796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4873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Təməl (Foundation)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52029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konstruksiyanı yerə sabitləyir və yükləri torpağa ötürür.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SÜNI İNTELLEKT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 hissəyə quraşdırılan sensor və AI ilə məhsuldarlıq optimallaşdırması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987906" y="3264865"/>
            <a:ext cx="230429" cy="2448306"/>
          </a:xfrm>
          <a:prstGeom prst="rect">
            <a:avLst/>
          </a:prstGeom>
          <a:solidFill>
            <a:srgbClr val="3E6B66"/>
          </a:solidFill>
          <a:ln/>
        </p:spPr>
      </p:sp>
      <p:sp>
        <p:nvSpPr>
          <p:cNvPr id="5" name="Shape 3"/>
          <p:cNvSpPr/>
          <p:nvPr/>
        </p:nvSpPr>
        <p:spPr>
          <a:xfrm>
            <a:off x="1907256" y="5674766"/>
            <a:ext cx="391729" cy="153619"/>
          </a:xfrm>
          <a:prstGeom prst="roundRect">
            <a:avLst>
              <a:gd name="adj" fmla="val 17857"/>
            </a:avLst>
          </a:prstGeom>
          <a:solidFill>
            <a:srgbClr val="3E6B66"/>
          </a:solidFill>
          <a:ln/>
        </p:spPr>
      </p:sp>
      <p:sp>
        <p:nvSpPr>
          <p:cNvPr id="6" name="Shape 4"/>
          <p:cNvSpPr/>
          <p:nvPr/>
        </p:nvSpPr>
        <p:spPr>
          <a:xfrm>
            <a:off x="2064715" y="2861615"/>
            <a:ext cx="960120" cy="403250"/>
          </a:xfrm>
          <a:prstGeom prst="roundRect">
            <a:avLst>
              <a:gd name="adj" fmla="val 11338"/>
            </a:avLst>
          </a:prstGeom>
          <a:solidFill>
            <a:srgbClr val="0B2E2F"/>
          </a:solidFill>
          <a:ln/>
        </p:spPr>
      </p:sp>
      <p:sp>
        <p:nvSpPr>
          <p:cNvPr id="7" name="Shape 5"/>
          <p:cNvSpPr/>
          <p:nvPr/>
        </p:nvSpPr>
        <p:spPr>
          <a:xfrm rot="-1200000">
            <a:off x="1767015" y="1619928"/>
            <a:ext cx="163220" cy="1488186"/>
          </a:xfrm>
          <a:prstGeom prst="roundRect">
            <a:avLst>
              <a:gd name="adj" fmla="val 28011"/>
            </a:avLst>
          </a:prstGeom>
          <a:solidFill>
            <a:srgbClr val="1B998B"/>
          </a:solidFill>
          <a:ln/>
        </p:spPr>
      </p:sp>
      <p:sp>
        <p:nvSpPr>
          <p:cNvPr id="8" name="Shape 6"/>
          <p:cNvSpPr/>
          <p:nvPr/>
        </p:nvSpPr>
        <p:spPr>
          <a:xfrm rot="6000000">
            <a:off x="2754298" y="2448357"/>
            <a:ext cx="163220" cy="1488186"/>
          </a:xfrm>
          <a:prstGeom prst="roundRect">
            <a:avLst>
              <a:gd name="adj" fmla="val 28011"/>
            </a:avLst>
          </a:prstGeom>
          <a:solidFill>
            <a:srgbClr val="1B998B"/>
          </a:solidFill>
          <a:ln/>
        </p:spPr>
      </p:sp>
      <p:sp>
        <p:nvSpPr>
          <p:cNvPr id="9" name="Shape 7"/>
          <p:cNvSpPr/>
          <p:nvPr/>
        </p:nvSpPr>
        <p:spPr>
          <a:xfrm rot="13200000">
            <a:off x="1543216" y="2889155"/>
            <a:ext cx="163220" cy="1488186"/>
          </a:xfrm>
          <a:prstGeom prst="roundRect">
            <a:avLst>
              <a:gd name="adj" fmla="val 28011"/>
            </a:avLst>
          </a:prstGeom>
          <a:solidFill>
            <a:srgbClr val="1B998B"/>
          </a:solidFill>
          <a:ln/>
        </p:spPr>
      </p:sp>
      <p:sp>
        <p:nvSpPr>
          <p:cNvPr id="10" name="Shape 8"/>
          <p:cNvSpPr/>
          <p:nvPr/>
        </p:nvSpPr>
        <p:spPr>
          <a:xfrm>
            <a:off x="1949501" y="2909621"/>
            <a:ext cx="307238" cy="30723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B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07208"/>
            <a:ext cx="1417320" cy="-123444"/>
          </a:xfrm>
          <a:prstGeom prst="line">
            <a:avLst/>
          </a:prstGeom>
          <a:noFill/>
          <a:ln w="19050">
            <a:solidFill>
              <a:srgbClr val="FFB62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02920" y="2980944"/>
            <a:ext cx="1417320" cy="-41148"/>
          </a:xfrm>
          <a:prstGeom prst="line">
            <a:avLst/>
          </a:prstGeom>
          <a:noFill/>
          <a:ln w="19050">
            <a:solidFill>
              <a:srgbClr val="FFB62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2920" y="3154680"/>
            <a:ext cx="1417320" cy="41148"/>
          </a:xfrm>
          <a:prstGeom prst="line">
            <a:avLst/>
          </a:prstGeom>
          <a:noFill/>
          <a:ln w="19050">
            <a:solidFill>
              <a:srgbClr val="FFB62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" y="3328416"/>
            <a:ext cx="1417320" cy="123444"/>
          </a:xfrm>
          <a:prstGeom prst="line">
            <a:avLst/>
          </a:prstGeom>
          <a:noFill/>
          <a:ln w="19050">
            <a:solidFill>
              <a:srgbClr val="FFB62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965960" y="2926080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4884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4160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bıçaqlara çatmazdan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saniyə əvvəl küləyi ölçür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673352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7492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14904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 ölçmə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18013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Nasel-LIDAR bıçaqlar bölgəsinə çatmazdan əvvəl küləyin sürət və istiqamətini ölçür.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846320" y="249631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2752344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7492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25694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2880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Ölçülən məlumat proqnoz və korreksiya alqoritminə ötürülür; yaw sapması hesablanır.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846320" y="3575304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3831336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7492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715000" y="36484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Avtomatik korreksiya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715000" y="39593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Nasel bucağı (yaw) və bıçaq addımı (pitch) real-vaxtda tənzimlənir.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846320" y="4654296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49103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7492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47274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Artan məhsuldarlıq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503834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Külək axını ilə rotor daha dəqiq düzləndiyi üçün enerji tutumu artır, yük azalır.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274320" y="489204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NÜMUNƏ · NREL (ABŞ) + Avent Lidar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5321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«Wind Iris» nasel-LIDAR sistemi turbinin qabağına quraşdırılaraq 7,5° yaw sapmasını aşkarlayıb. First Wind-in sahə sınağında bu korreksiya illik enerji istehsalını (AEP) 1,8% artırıb; NREL-in müstəqil tədqiqatı isə oxşar şərtlərdə 2,4%-lik artım proqnozlaşdırıb.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Süni intellekt və maşın öyrənməsinin rolu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A8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Proqnozlaşdırma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37560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məlumatları və tarixi göstəricilər əsasında günəş/külək istehsalının qısa və orta müddətli proqnozu.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A8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Anomaliya aşkarlanması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337560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məlumatlarındakı normadan kənarlaşmalar nasazlıq baş verməzdən əvvəl müəyyən edilir.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A8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Optimallaşdırma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337560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bucağı, turbin bıçaq addımı və şəbəkəyə çatdırılma parametrləri avtomatik tənzimlənir.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A86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5372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Qərar dəstəyi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3337560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Operatorlara real-vaxt tövsiyələr təqdim edilir — baxım planlaması, yük bölgüsü, ehtiyat idarəetməsi.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3D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Nəticə: DeepMind nümunəsində olduğu kimi, düzgün öyrədilmiş model heç bir əlavə infrastruktur olmadan mövcud aktivin dəyərini onlarla faiz artıra bilir.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 INTEQRASIYASI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Ağıllı şəbəkə (Smart Grid) ilə əlaqə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İstehsal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Günəş və külək stansiyalarından real-vaxt güc məlumatları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37744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47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Proqnoz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modelləri qısa müddətli istehsal və tələbatı proqnozlaşdırır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37744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Tarazlaşdırma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saxlama sistemləri və tələb-cavab (demand-response) mexanizmləri işə düşür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1832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2E2F"/>
          </a:solidFill>
          <a:ln w="12700">
            <a:solidFill>
              <a:srgbClr val="1D56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237744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469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Çatdırılma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 operatoruna stabil, planlaşdırılmış enerji axını təqdim olunur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Elektrik Stansiyası (VPP) konsepsiyası — çoxlu sayda kiçik və orta ölçülü bərpa olunan enerji mənbəyi vahid rəqəmsal platforma vasitəsilə tək bir aktiv kimi idarə olunur.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ÇƏTINLIKLƏR VƏ RISKLƏR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Rəqəmsal transformasiyanın qarşısındakı maneələr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76272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F3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214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Kibertəhlükəsizlik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və IoT sistemlərinin şəbəkəyə qoşulması hücum səthini genişləndirir; qorunma tədbirləri mütləqdir.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76272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F3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214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standartlaşdırılması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54203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Fərqli istehsalçıların avadanlıqları müxtəlif protokollardan istifadə edir, bu da inteqrasiyanı çətinləşdirir.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F3D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02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İlkin investisiya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9087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kommunikasiya infrastrukturu və proqram təminatına başlanğıc xərclər əhəmiyyətlidir.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25112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F3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702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İxtisaslı kadr çatışmazlığı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69087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analitikası, AI/ML və enerji sistemləri sahəsində birgə bilikli mütəxəssislərə tələbat yüksəkdir.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0B2E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 VƏ TÖVSIYƏLƏR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Rəqəmsal idarəetmə — davamlı enerjinin təməli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299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nümunələr göstərir ki, SCADA, IoT və AI/ML inteqrasiyası istehsalın dəyərini, etibarlılığını və proqnozlaşdırıla bilənliyini əhəmiyyətli dərəcədə artırır.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815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Qaradağ və Xızı–Abşeron layihələri Azərbaycanın bu istiqamətdə beynəlxalq təcrübəni tətbiq etmək iqtidarında olduğunu nümayiş etdirir.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13308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Növbəti addım: yerli operatorlar üçün vahid data standartları, kibertəhlükəsizlik çərçivəsi və ixtisaslı kadr hazırlığı proqramlarının inkişafı.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Diqqətinizə görə təşəkkür edirik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MƏNBƏLƏR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Ədəbiyyat və istinadlar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Elkin, C., Witherspoon, S. (2019). Machine learning can boost the value of wind energy. DeepMind &amp; Google Research Blog.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951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95144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Gamesa. Digitalization &amp; Remote Diagnostics Services — rəqəmsal diaqnostika mərkəzi. siemensgamesa.com.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07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07208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Renewable Energy Laboratory (NREL), U.S. Department of Energy (2014). Field study on nacelle-mounted LIDAR for wind turbine yaw-misalignment correction, in collaboration with Avent Lidar Technology.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92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31927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NRG Systems (2014). Case Study: Wind Iris LIDAR corrects yaw error, boosts energy production — First Wind field trial.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31336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/ Gulf Business, NS Energy, Enerdata (2022–2023). Qaradağ Günəş Elektrik Stansiyası (230 MW) üzrə xəbər materialları.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34340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ACWA Power / IntelliNews, IPP Journal, ESG MENA (2024–2026). Xızı–Abşeron Külək Elektrik Stansiyası (240 MW) üzrə xəbər materialları.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55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855464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 Respublikası Energetika Nazirliyi. Azərbaycanda bərpa olunan enerji mənbələrinin istifadəsi haqqında hesabat.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67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67528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Arctech (2024). SkyLine II Solar Tracker — Qaradağ layihəsi üzrə tətbiq materialları.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2026-09-30T05:13:00Z</dcterms:created>
  <dcterms:modified xsi:type="dcterms:W3CDTF">2026-09-30T05:13:00Z</dcterms:modified>
</cp:coreProperties>
</file>