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21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1958645"/>
            <a:ext cx="1843430" cy="1843430"/>
          </a:xfrm>
          <a:prstGeom prst="ellipse">
            <a:avLst/>
          </a:prstGeom>
          <a:ln w="9144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0100000">
            <a:off x="952805" y="2493240"/>
            <a:ext cx="1843430" cy="774241"/>
          </a:xfrm>
          <a:prstGeom prst="ellipse">
            <a:avLst/>
          </a:prstGeom>
          <a:ln w="6858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4091" y="2649931"/>
            <a:ext cx="460858" cy="46085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42900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493008" y="3273552"/>
            <a:ext cx="1005840" cy="73152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0" y="34381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Where data meets opportunity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Opportunity intelligence for emerging markets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 decisions run on guesswork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7" name="Image 0" descr="/home/claude/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53288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Manual research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Maps, brokers and spreadsheets. Slow, subjective, unrepeatable.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916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2" name="Image 1" descr="/home/claude/icon_alert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53288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Expensive mistakes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916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store in the wrong location is a multi-year loss that is hard to reverse.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7" name="Image 2" descr="/home/claude/icon_eyeoff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53288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 stays invisible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Emerging demand and service gaps are never systematically detected.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9E75"/>
                </a:solidFill>
                <a:latin typeface="Montserrat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26215C"/>
                </a:solidFill>
                <a:latin typeface="Montserrat"/>
              </a:rPr>
              <a:t>It happens to the best-resourced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5E5A"/>
                </a:solidFill>
                <a:latin typeface="Poppins"/>
              </a:rPr>
              <a:t>Same product. Same brand. Same operations manual. Only the location was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074920" cy="2606040"/>
          </a:xfrm>
          <a:prstGeom prst="roundRect">
            <a:avLst>
              <a:gd name="adj" fmla="val 6000"/>
            </a:avLst>
          </a:prstGeom>
          <a:solidFill>
            <a:srgbClr val="F7F6F1"/>
          </a:solidFill>
          <a:ln w="15240">
            <a:solidFill>
              <a:srgbClr val="E4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4323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6215C"/>
                </a:solidFill>
                <a:latin typeface="Montserrat"/>
              </a:rPr>
              <a:t>Starbucks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770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  <a:latin typeface="Poppins"/>
              </a:rPr>
              <a:t>2008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0358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D9E75"/>
                </a:solidFill>
                <a:latin typeface="Montserrat"/>
              </a:rPr>
              <a:t>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215C"/>
                </a:solidFill>
                <a:latin typeface="Poppins"/>
              </a:rPr>
              <a:t>US stores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4041648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F5E5A"/>
                </a:solidFill>
                <a:latin typeface="Poppins"/>
              </a:rPr>
              <a:t>70% had opened in the prior two years, most of them next to another Starbucks. The CFO's explanation: they simply were not profitable.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074920" cy="2606040"/>
          </a:xfrm>
          <a:prstGeom prst="roundRect">
            <a:avLst>
              <a:gd name="adj" fmla="val 6000"/>
            </a:avLst>
          </a:prstGeom>
          <a:solidFill>
            <a:srgbClr val="F7F6F1"/>
          </a:solidFill>
          <a:ln w="15240">
            <a:solidFill>
              <a:srgbClr val="E4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4323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6215C"/>
                </a:solidFill>
                <a:latin typeface="Montserrat"/>
              </a:rPr>
              <a:t>Subway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770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  <a:latin typeface="Poppins"/>
              </a:rPr>
              <a:t>2015–2025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0358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D9E75"/>
                </a:solidFill>
                <a:latin typeface="Montserrat"/>
              </a:rPr>
              <a:t>8,000+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74903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215C"/>
                </a:solidFill>
                <a:latin typeface="Poppins"/>
              </a:rPr>
              <a:t>US stores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4041648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F5E5A"/>
                </a:solidFill>
                <a:latin typeface="Poppins"/>
              </a:rPr>
              <a:t>Franchisees asked head office not to approve nearby openings. Subway now says it is focused on the right locations, real estate and visibility.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262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38928"/>
            <a:ext cx="10058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D9E75"/>
                </a:solidFill>
                <a:latin typeface="Poppins"/>
              </a:rPr>
              <a:t>Franchising proves the point. </a:t>
            </a:r>
            <a:r>
              <a:rPr sz="1350" b="0" i="0">
                <a:solidFill>
                  <a:srgbClr val="FFFFFF"/>
                </a:solidFill>
                <a:latin typeface="Poppins"/>
              </a:rPr>
              <a:t>Identical product, identical training, identical supply chain — and wildly different outcomes. A typical Subway unit turns about $500K a year; Jersey Mike's does $1.4M. The variable is </a:t>
            </a:r>
            <a:r>
              <a:rPr sz="1350" b="1" i="1">
                <a:solidFill>
                  <a:srgbClr val="1D9E75"/>
                </a:solidFill>
                <a:latin typeface="Poppins"/>
              </a:rPr>
              <a:t>where</a:t>
            </a:r>
            <a:r>
              <a:rPr sz="1350" b="0" i="0">
                <a:solidFill>
                  <a:srgbClr val="FFFFFF"/>
                </a:solidFill>
                <a:latin typeface="Poppin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6215C"/>
                </a:solidFill>
                <a:latin typeface="Montserrat"/>
              </a:rPr>
              <a:t>SATELLA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F5E5A"/>
                </a:solidFill>
                <a:latin typeface="Poppins"/>
              </a:rPr>
              <a:t>03</a:t>
            </a:r>
          </a:p>
        </p:txBody>
      </p:sp>
      <p:sp>
        <p:nvSpPr>
          <p:cNvPr id="23" name="Oval 22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noFill/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noFill/>
          <a:ln w="9525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 shows you where to open next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fuse satellite, population and competition data into one explainable Opportunity Score, then rank the best zones to expand — without requiring any customer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7" name="Image 0" descr="/home/claude/icon_users_1D9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2826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Population &amp; demand signals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10" name="Image 1" descr="/home/claude/icon_mappin_1D9E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8496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37398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Competitor mapping &amp; service gaps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3342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13" name="Image 2" descr="/home/claude/icon_compass_1D9E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4165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3068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Accessibility analysis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9011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16" name="Image 3" descr="/home/claude/icon_trendingup_1D9E7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98348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4873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Satellite economic signal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498080" y="178308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26215C"/>
          </a:solidFill>
          <a:ln/>
        </p:spPr>
        <p:txBody>
          <a:bodyPr/>
          <a:p/>
        </p:txBody>
      </p:sp>
      <p:pic>
        <p:nvPicPr>
          <p:cNvPr id="19" name="Image 4" descr="/home/claude/icon_targ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103120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F1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SCORE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772400" y="2423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</a:t>
            </a:r>
            <a:endParaRPr lang="en-US" sz="7600" dirty="0"/>
          </a:p>
        </p:txBody>
      </p:sp>
      <p:sp>
        <p:nvSpPr>
          <p:cNvPr id="22" name="Text 15"/>
          <p:cNvSpPr/>
          <p:nvPr/>
        </p:nvSpPr>
        <p:spPr>
          <a:xfrm>
            <a:off x="78181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opportunity zone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8181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601200" y="421538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9601200" y="4215384"/>
            <a:ext cx="1437894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78181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competition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601200" y="458114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9601200" y="4581144"/>
            <a:ext cx="1217981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9" name="Text 22"/>
          <p:cNvSpPr/>
          <p:nvPr/>
        </p:nvSpPr>
        <p:spPr>
          <a:xfrm>
            <a:off x="781812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601200" y="494690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9601200" y="4946904"/>
            <a:ext cx="1522476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781812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 activity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601200" y="531266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9601200" y="5312664"/>
            <a:ext cx="1065733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0876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7" name="Image 0" descr="/home/claude/icon_gri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27797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Category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Pharmacy, retail or F&amp;B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9067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42900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29768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4" name="Image 1" descr="/home/claude/icon_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7797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Area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6616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Center point + radius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87959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621792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708660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21" name="Image 2" descr="/home/claude/icon_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77977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Scoring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5508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zone evaluated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66851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900684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9875520" y="2606040"/>
            <a:ext cx="731520" cy="7315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pic>
        <p:nvPicPr>
          <p:cNvPr id="28" name="Image 3" descr="/home/claude/icon_aw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779776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8972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4400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Ranked zones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14400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full explanation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product, not a concept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platform, live today. Three categories, real Baku data, explainable results.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772400" cy="3886200"/>
          </a:xfrm>
          <a:prstGeom prst="roundRect">
            <a:avLst>
              <a:gd name="adj" fmla="val 2824"/>
            </a:avLst>
          </a:prstGeom>
          <a:solidFill>
            <a:srgbClr val="F7F6F1"/>
          </a:solidFill>
          <a:ln w="19050">
            <a:solidFill>
              <a:srgbClr val="7FA8D4"/>
            </a:solidFill>
            <a:prstDash val="dash"/>
          </a:ln>
        </p:spPr>
        <p:txBody>
          <a:bodyPr/>
          <a:p/>
        </p:txBody>
      </p:sp>
      <p:pic>
        <p:nvPicPr>
          <p:cNvPr id="7" name="Image 0" descr="/home/claude/icon_mappin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657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434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[ Demo ekran şəklini bura yerləşdir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Tövsiyə: kateqoriya seçilmiş, xəritədə tövsiyə zonaları görünən hal · nisbət ~2:1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154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933688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 live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154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~3,500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933688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Zones scored in Baku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1540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933688" y="4919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components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915400" y="54864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09828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 it live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982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satella-eight.vercel.app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markets others ignore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platforms are built for data-rich markets. Satella works where data is scarce — which is where the growth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home/claude/icon_cpu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Satellite economic signal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read nighttime light to estimate commercial intensity and spending power — where no neighbourhood-level income data exists.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home/claude/icon_globe_185F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974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Emerging-market native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dependence on customer sales data, which rarely exists in these markets.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D9E75"/>
          </a:solidFill>
          <a:ln/>
        </p:spPr>
        <p:txBody>
          <a:bodyPr/>
          <a:p/>
        </p:txBody>
      </p:sp>
      <p:pic>
        <p:nvPicPr>
          <p:cNvPr id="15" name="Image 2" descr="/home/claude/icon_z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974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Explainable by design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1248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1F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score decomposes into its drivers. Not a black box — a defensible decision.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Tested against reality, not intuition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scored every zone in Baku, then checked where 367 existing pharmacies actually sit — a within-city test, so density alone cannot explain the result.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our top-quartile zones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chance: 25%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our top half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chance: 50%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2.1x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6676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higher score than city average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56.8 vs 27.3 city mean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Within a single city — the hardest test we can run without customers.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919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Then we invert it. Applying the competition penalty surfaces 241 zones that score in the top 10% for attractiveness but have no pharmacy — dense residential blocks 250 to 580 metres from the nearest one. That list is the product.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size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Bottom-up, built from real business counts — not top-down percentages.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3840480" cy="3840480"/>
          </a:xfrm>
          <a:prstGeom prst="ellipse">
            <a:avLst/>
          </a:prstGeom>
          <a:solidFill>
            <a:srgbClr val="C9D9EC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19072" y="2862072"/>
            <a:ext cx="2596896" cy="2596896"/>
          </a:xfrm>
          <a:prstGeom prst="ellipse">
            <a:avLst/>
          </a:prstGeom>
          <a:solidFill>
            <a:srgbClr val="7FA8D4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40864" y="3483864"/>
            <a:ext cx="1353312" cy="1353312"/>
          </a:xfrm>
          <a:prstGeom prst="ellipse">
            <a:avLst/>
          </a:prstGeom>
          <a:solidFill>
            <a:srgbClr val="1D9E75"/>
          </a:solidFill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77440" y="3959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990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350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984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13" name="Image 0" descr="/home/claude/icon_globe_1D9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756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0920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1892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$67.5B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36092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location intelligence market by 2030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3282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18" name="Image 1" descr="/home/claude/icon_users_1D9E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37413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32644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66760" y="3191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~$30M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7360920" y="3813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Caucasus + Central Asia · ~97M people, ~2,800 chains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766560" y="4581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  <p:txBody>
          <a:bodyPr/>
          <a:p/>
        </p:txBody>
      </p:sp>
      <p:pic>
        <p:nvPicPr>
          <p:cNvPr id="23" name="Image 2" descr="/home/claude/icon_barchart_1D9E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67258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60920" y="4562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66760" y="44897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~$1.2M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7360920" y="5111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by year 5 across 4 markets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76656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85F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Azerbaijan first (~$310K ARR by year 3), then Georgia, Kazakhstan and Uzbekistan.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landscape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SiteZeus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00584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 enterprise. Custom revenue models trained on client sales data — which our market doesn't have. No emerging-market presence.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0916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Targomo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Europe. Strong accessibility engine, freemium funnel. Thin coverage and no local data in our region.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41248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1F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Emerging-market native. Local data, satellite growth signal, explainable scores, priced for these budgets.</a:t>
            </a:r>
            <a:endParaRPr lang="en-US" sz="1350" dirty="0"/>
          </a:p>
        </p:txBody>
      </p:sp>
      <p:pic>
        <p:nvPicPr>
          <p:cNvPr id="17" name="Image 0" descr="/home/claude/icon_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377440"/>
            <a:ext cx="365760" cy="365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MAKE MONEY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Recurring SaaS subscription. Customers pay for continuous access to a live, monthly-refreshed market picture — not per report.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owners opening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their first location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Single city · 3 searches/mo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26215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$499</a:t>
            </a:r>
            <a:pPr indent="0" marL="0">
              <a:buNone/>
            </a:pPr>
            <a:r>
              <a:rPr lang="en-US" sz="13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0916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Regional chains actively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All categories · unlimited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1248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$1,500+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1248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chains and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Multi-city · API ·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Path to scale:  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~$310K ARR in Azerbaijan by year 3, ~$1.2M by year 5 across four markets. The same engine extends to each new city at near-zero marginal cost.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go next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p/>
        </p:txBody>
      </p:sp>
      <p:pic>
        <p:nvPicPr>
          <p:cNvPr id="6" name="Image 0" descr="/home/claude/icon_z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0704" y="2798064"/>
            <a:ext cx="0" cy="749808"/>
          </a:xfrm>
          <a:prstGeom prst="line">
            <a:avLst/>
          </a:prstGeom>
          <a:noFill/>
          <a:ln w="25400">
            <a:solidFill>
              <a:srgbClr val="B4B2A9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600200" y="2176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Now — product live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00200" y="263347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categories scored across Baku. Validated within-city against 367 existing pharmacies at 4x better than chance.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566928" cy="56692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1" name="Image 1" descr="/home/claude/icon_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60704" y="4123944"/>
            <a:ext cx="0" cy="749808"/>
          </a:xfrm>
          <a:prstGeom prst="line">
            <a:avLst/>
          </a:prstGeom>
          <a:noFill/>
          <a:ln w="25400">
            <a:solidFill>
              <a:srgbClr val="B4B2A9"/>
            </a:solidFill>
            <a:prstDash val="dash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600200" y="35021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Next 6 months — first customers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600200" y="3959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Design-partner pilots with pharmacy and retail chains. Pricing and weights tuned on real feedback.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77240" y="4846320"/>
            <a:ext cx="566928" cy="566928"/>
          </a:xfrm>
          <a:prstGeom prst="ellipse">
            <a:avLst/>
          </a:prstGeom>
          <a:solidFill>
            <a:srgbClr val="26215C"/>
          </a:solidFill>
          <a:ln/>
        </p:spPr>
        <p:txBody>
          <a:bodyPr/>
          <a:p/>
        </p:txBody>
      </p:sp>
      <p:pic>
        <p:nvPicPr>
          <p:cNvPr id="16" name="Image 2" descr="/home/claude/icon_glob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834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828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12–24 months — new markets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600200" y="528523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Expand to Georgia and Central Asia. Property-price and drive-time layers. ML ranking on outcome data.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Bu slaydı öz komanda məlumatınızla doldurun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8132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home/claude/icon_users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285292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2900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27024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/home/claude/icon_users_185F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85292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5760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5760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1792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705916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home/claude/icon_users_185FA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85292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4652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4652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00684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984808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  <p:txBody>
          <a:bodyPr/>
          <a:p/>
        </p:txBody>
      </p:sp>
      <p:pic>
        <p:nvPicPr>
          <p:cNvPr id="26" name="Image 3" descr="/home/claude/icon_users_185FA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285292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3544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3544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3" name="Text 2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we're raising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Pre-seed to reach first revenue and prove the model on paying customers.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2621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F1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$185K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months of runway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224028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120640" y="224028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40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&amp; product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founders full-time, data pipeline, new coverage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3272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20640" y="347472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120640" y="347472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406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sales hire, design-partner pilots, events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33272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20640" y="47091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20640" y="470916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406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Operations &amp; buffer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Infrastructure, legal, contingency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32720" y="4846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E1F5E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18-month milestone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73659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10–15 paying customers,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validated pricing, and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coverage beyond Baku.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1508760"/>
            <a:ext cx="1280160" cy="1280160"/>
          </a:xfrm>
          <a:prstGeom prst="ellipse">
            <a:avLst/>
          </a:prstGeom>
          <a:ln w="635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20100000">
            <a:off x="5440680" y="1880006"/>
            <a:ext cx="1280160" cy="537667"/>
          </a:xfrm>
          <a:prstGeom prst="ellipse">
            <a:avLst/>
          </a:prstGeom>
          <a:ln w="47625">
            <a:solidFill>
              <a:srgbClr val="1D9E7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20740" y="19888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where to expand next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715000" y="4096512"/>
            <a:ext cx="731520" cy="6400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71600" y="4251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F1F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Opportunity intelligence for emerging markets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____________@______   ·   ____________   ·   linkedin.com/in/__________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email · sayt · LinkedIn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2026-08-24T06:11:10Z</dcterms:created>
  <dcterms:modified xsi:type="dcterms:W3CDTF">2026-08-24T06:11:10Z</dcterms:modified>
</cp:coreProperties>
</file>